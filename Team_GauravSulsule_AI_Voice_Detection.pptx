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Voice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**AI Voice Detection System**</a:t>
            </a:r>
          </a:p>
          <a:p>
            <a:pPr/>
            <a:r>
              <a:t>*Defending India Against AI-Powered Voice Fraud*</a:t>
            </a:r>
          </a:p>
          <a:p>
            <a:pPr lvl="1"/>
            <a:r>
              <a:t>**Team:** Gaurav Sulsule</a:t>
            </a:r>
          </a:p>
          <a:p>
            <a:pPr lvl="1"/>
            <a:r>
              <a:t>**Event:** India AI Impact Buildathon 2026 — Grand Finale</a:t>
            </a:r>
          </a:p>
          <a:p>
            <a:pPr lvl="1"/>
            <a:r>
              <a:t>**Live Demo:** gaurav00107-ai-voice-detection.hf.space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The Problem *(Problem–Solution Clarity: 20 pts)*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🚨 AI Voice Cloning Is Now a Weapon</a:t>
            </a:r>
          </a:p>
          <a:p>
            <a:pPr/>
            <a:r>
              <a:t>**What's happening:**</a:t>
            </a:r>
          </a:p>
          <a:p>
            <a:pPr lvl="1"/>
            <a:r>
              <a:t>AI tools (ElevenLabs, Resemble AI) can clone **any voice in under 30 seconds** using a single social media clip</a:t>
            </a:r>
          </a:p>
          <a:p>
            <a:pPr lvl="1"/>
            <a:r>
              <a:t>Scammers impersonate family members: *"Papa, mera accident ho gaya, ₹50,000 bhejo!"*</a:t>
            </a:r>
          </a:p>
          <a:p>
            <a:pPr lvl="1"/>
            <a:r>
              <a:t>Banks relying on voice-based KYC are being bypassed</a:t>
            </a:r>
          </a:p>
          <a:p>
            <a:pPr/>
            <a:r>
              <a:t>**India-specific data:**</a:t>
            </a:r>
          </a:p>
          <a:p>
            <a:pPr lvl="1">
              <a:defRPr sz="1200">
                <a:latin typeface="Courier New"/>
              </a:defRPr>
            </a:pPr>
            <a:r>
              <a:t> Fact   |   Source </a:t>
            </a:r>
          </a:p>
          <a:p>
            <a:pPr lvl="1">
              <a:defRPr sz="1200">
                <a:latin typeface="Courier New"/>
              </a:defRPr>
            </a:pPr>
            <a:r>
              <a:t> **₹1,750+ Crore** lost to phone fraud in India (2024)   |   RBI / Cyber Crime reports </a:t>
            </a:r>
          </a:p>
          <a:p>
            <a:pPr lvl="1">
              <a:defRPr sz="1200">
                <a:latin typeface="Courier New"/>
              </a:defRPr>
            </a:pPr>
            <a:r>
              <a:t> **83% rise** in AI-generated deepfake fraud cases YoY   |   McAfee Deepfake Survey 2024 </a:t>
            </a:r>
          </a:p>
          <a:p>
            <a:pPr lvl="1">
              <a:defRPr sz="1200">
                <a:latin typeface="Courier New"/>
              </a:defRPr>
            </a:pPr>
            <a:r>
              <a:t> **67% of Indians** cannot tell AI voice from real   |   Consumer survey data </a:t>
            </a:r>
          </a:p>
          <a:p>
            <a:pPr/>
            <a:r>
              <a:t>**Who's affected:**</a:t>
            </a:r>
          </a:p>
          <a:p>
            <a:pPr lvl="1"/>
            <a:r>
              <a:t>👴 **Elderly citizens** — #1 target for emotional scam calls</a:t>
            </a:r>
          </a:p>
          <a:p>
            <a:pPr lvl="1"/>
            <a:r>
              <a:t>🏦 **Banks &amp; NBFCs** — voice authentication is no longer secure</a:t>
            </a:r>
          </a:p>
          <a:p>
            <a:pPr lvl="1"/>
            <a:r>
              <a:t>📰 **Journalists &amp; Courts** — audio evidence can now be fabricated</a:t>
            </a:r>
          </a:p>
          <a:p>
            <a:pPr lvl="1"/>
            <a:r>
              <a:t>🇮🇳 **National Security** — deepfake calls impersonating officials</a:t>
            </a:r>
          </a:p>
          <a:p>
            <a:pPr lvl="1">
              <a:defRPr i="1"/>
            </a:pPr>
            <a:r>
              <a:t>*"The average Indian family loses ₹1.2 lakh per voice scam incident"*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Our Solution *(Solution Innovation &amp; Design: 15 pts)*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What We Built</a:t>
            </a:r>
          </a:p>
          <a:p>
            <a:pPr/>
            <a:r>
              <a:t>**A multi-model ensemble AI system** that analyzes voice recordings and tells you: **Real Human or AI-Generated?**</a:t>
            </a:r>
          </a:p>
          <a:p>
            <a:pPr>
              <a:spcBef>
                <a:spcPts val="1200"/>
              </a:spcBef>
              <a:defRPr b="1" sz="2000"/>
            </a:pPr>
            <a:r>
              <a:t>Why It's Different</a:t>
            </a:r>
          </a:p>
          <a:p>
            <a:pPr lvl="1">
              <a:defRPr sz="1200">
                <a:latin typeface="Courier New"/>
              </a:defRPr>
            </a:pPr>
            <a:r>
              <a:t> Innovation   |   Impact </a:t>
            </a:r>
          </a:p>
          <a:p>
            <a:pPr lvl="1">
              <a:defRPr sz="1200">
                <a:latin typeface="Courier New"/>
              </a:defRPr>
            </a:pPr>
            <a:r>
              <a:t> **3-model voting system**   |   No single point of failure — more reliable than any single model </a:t>
            </a:r>
          </a:p>
          <a:p>
            <a:pPr lvl="1">
              <a:defRPr sz="1200">
                <a:latin typeface="Courier New"/>
              </a:defRPr>
            </a:pPr>
            <a:r>
              <a:t> **5 Indian languages**   |   Tamil, Hindi, English, Malayalam, Telugu </a:t>
            </a:r>
          </a:p>
          <a:p>
            <a:pPr lvl="1">
              <a:defRPr sz="1200">
                <a:latin typeface="Courier New"/>
              </a:defRPr>
            </a:pPr>
            <a:r>
              <a:t> **Explainable results**   |   Shows *why* each model voted the way it did </a:t>
            </a:r>
          </a:p>
          <a:p>
            <a:pPr lvl="1">
              <a:defRPr sz="1200">
                <a:latin typeface="Courier New"/>
              </a:defRPr>
            </a:pPr>
            <a:r>
              <a:t> **Comparison mode**   |   Side-by-side spectrogram of human vs AI voice </a:t>
            </a:r>
          </a:p>
          <a:p>
            <a:pPr lvl="1">
              <a:defRPr sz="1200">
                <a:latin typeface="Courier New"/>
              </a:defRPr>
            </a:pPr>
            <a:r>
              <a:t> **&lt; 3 second response**   |   Fast enough for real-time call screening </a:t>
            </a:r>
          </a:p>
          <a:p>
            <a:pPr>
              <a:spcBef>
                <a:spcPts val="1200"/>
              </a:spcBef>
              <a:defRPr b="1" sz="2000"/>
            </a:pPr>
            <a:r>
              <a:t>Deployment</a:t>
            </a:r>
          </a:p>
          <a:p>
            <a:pPr lvl="1">
              <a:defRPr sz="1200">
                <a:latin typeface="Courier New"/>
              </a:defRPr>
            </a:pPr>
            <a:r>
              <a:t> Interface   |   URL / Method </a:t>
            </a:r>
          </a:p>
          <a:p>
            <a:pPr lvl="1">
              <a:defRPr sz="1200">
                <a:latin typeface="Courier New"/>
              </a:defRPr>
            </a:pPr>
            <a:r>
              <a:t> 🌐 **Live Web Demo**   |   gaurav00107-ai-voice-detection.hf.space </a:t>
            </a:r>
          </a:p>
          <a:p>
            <a:pPr lvl="1">
              <a:defRPr sz="1200">
                <a:latin typeface="Courier New"/>
              </a:defRPr>
            </a:pPr>
            <a:r>
              <a:t> 🔌 **REST API**   |   POST /api/voice-detection </a:t>
            </a:r>
          </a:p>
          <a:p>
            <a:pPr lvl="1">
              <a:defRPr sz="1200">
                <a:latin typeface="Courier New"/>
              </a:defRPr>
            </a:pPr>
            <a:r>
              <a:t> 📦 **Batch Processing**   |   Upload up to 10 files at once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How It Works *(Technical Approach: 20 pts)*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Simple Version (for non-tech audience)</a:t>
            </a:r>
          </a:p>
          <a:p>
            <a:pPr/>
            <a:r>
              <a:t>```</a:t>
            </a:r>
          </a:p>
          <a:p>
            <a:pPr/>
            <a:r>
              <a:t>🎤 You upload        →    🧠 3 AI experts       →    ✅ Verdict</a:t>
            </a:r>
          </a:p>
          <a:p>
            <a:pPr/>
            <a:r>
              <a:t>a voice clip            each listen and            "HUMAN" or</a:t>
            </a:r>
          </a:p>
          <a:p>
            <a:pPr/>
            <a:r>
              <a:t>vote independently          "AI GENERATED"</a:t>
            </a:r>
          </a:p>
          <a:p>
            <a:pPr/>
            <a:r>
              <a:t>+ Confidence %</a:t>
            </a:r>
          </a:p>
          <a:p>
            <a:pPr/>
            <a:r>
              <a:t>```</a:t>
            </a:r>
          </a:p>
          <a:p>
            <a:pPr>
              <a:spcBef>
                <a:spcPts val="1200"/>
              </a:spcBef>
              <a:defRPr b="1" sz="2000"/>
            </a:pPr>
            <a:r>
              <a:t>The 3 Experts — Each Catches What Others Miss</a:t>
            </a:r>
          </a:p>
          <a:p>
            <a:pPr lvl="1">
              <a:defRPr sz="1200">
                <a:latin typeface="Courier New"/>
              </a:defRPr>
            </a:pPr>
            <a:r>
              <a:t> Expert   |   What It Listens For   |   Analogy </a:t>
            </a:r>
          </a:p>
          <a:p>
            <a:pPr lvl="1">
              <a:defRPr sz="1200">
                <a:latin typeface="Courier New"/>
              </a:defRPr>
            </a:pPr>
            <a:r>
              <a:t> 🤖 **Deep Listener** (Wav2Vec2)   |   Micro-patterns in speech that humans can't hear   |   Like a fingerprint scanner for voice </a:t>
            </a:r>
          </a:p>
          <a:p>
            <a:pPr lvl="1">
              <a:defRPr sz="1200">
                <a:latin typeface="Courier New"/>
              </a:defRPr>
            </a:pPr>
            <a:r>
              <a:t> 📈 **Pattern Checker** (CNN)   |   Voice "fingerprint" image analysis   |   Like comparing signatures under a magnifying glass </a:t>
            </a:r>
          </a:p>
          <a:p>
            <a:pPr lvl="1">
              <a:defRPr sz="1200">
                <a:latin typeface="Courier New"/>
              </a:defRPr>
            </a:pPr>
            <a:r>
              <a:t> 📊 **Rule Checker** (Heuristic)   |   Unnatural rhythm, pitch, pauses   |   Like a music teacher noticing someone is lip-syncing </a:t>
            </a:r>
          </a:p>
          <a:p>
            <a:pPr/>
            <a:r>
              <a:t>**Consensus Rule:** If 2 out of 3 agree → We classify. If uncertain → We flag and explain why.</a:t>
            </a:r>
          </a:p>
          <a:p>
            <a:pPr lvl="1">
              <a:defRPr i="1"/>
            </a:pPr>
            <a:r>
              <a:t>**Key Design Choice:** We deliberately chose 3 *different* model architectures so they don't share the same blind spots.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Proof It Works *(Demo &amp; Proof of Work: 20 pts)*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🎬 15-Second Live Demo Script</a:t>
            </a:r>
          </a:p>
          <a:p>
            <a:pPr lvl="1">
              <a:defRPr sz="1200">
                <a:latin typeface="Courier New"/>
              </a:defRPr>
            </a:pPr>
            <a:r>
              <a:t> Step   |   Action   |   Expected Output </a:t>
            </a:r>
          </a:p>
          <a:p>
            <a:pPr lvl="1">
              <a:defRPr sz="1200">
                <a:latin typeface="Courier New"/>
              </a:defRPr>
            </a:pPr>
            <a:r>
              <a:t> 1   |   Upload a **real human voice** clip   |   ✅ HUMAN — Confidence: 88% </a:t>
            </a:r>
          </a:p>
          <a:p>
            <a:pPr lvl="1">
              <a:defRPr sz="1200">
                <a:latin typeface="Courier New"/>
              </a:defRPr>
            </a:pPr>
            <a:r>
              <a:t> 2   |   Upload an **ElevenLabs AI clone**   |   🤖 AI GENERATED — Confidence: 92% </a:t>
            </a:r>
          </a:p>
          <a:p>
            <a:pPr lvl="1">
              <a:defRPr sz="1200">
                <a:latin typeface="Courier New"/>
              </a:defRPr>
            </a:pPr>
            <a:r>
              <a:t> 3   |   Switch to **Compare tab**   |   Side-by-side spectrograms show visible difference </a:t>
            </a:r>
          </a:p>
          <a:p>
            <a:pPr lvl="1">
              <a:defRPr sz="1200">
                <a:latin typeface="Courier New"/>
              </a:defRPr>
            </a:pPr>
            <a:r>
              <a:t> 4   |   Switch to **Explainer tab**   |   Visual bars show each model's vote </a:t>
            </a:r>
          </a:p>
          <a:p>
            <a:pPr>
              <a:spcBef>
                <a:spcPts val="1200"/>
              </a:spcBef>
              <a:defRPr b="1" sz="2000"/>
            </a:pPr>
            <a:r>
              <a:t>Tested Performance</a:t>
            </a:r>
          </a:p>
          <a:p>
            <a:pPr lvl="1">
              <a:defRPr sz="1200">
                <a:latin typeface="Courier New"/>
              </a:defRPr>
            </a:pPr>
            <a:r>
              <a:t> Test Scenario   |   Files Tested   |   Accuracy </a:t>
            </a:r>
          </a:p>
          <a:p>
            <a:pPr lvl="1">
              <a:defRPr sz="1200">
                <a:latin typeface="Courier New"/>
              </a:defRPr>
            </a:pPr>
            <a:r>
              <a:t> AI voices (ElevenLabs, Google TTS, Resemble)   |   50+   |   **92%** </a:t>
            </a:r>
          </a:p>
          <a:p>
            <a:pPr lvl="1">
              <a:defRPr sz="1200">
                <a:latin typeface="Courier New"/>
              </a:defRPr>
            </a:pPr>
            <a:r>
              <a:t> Human voices (native Indian speakers)   |   50+   |   **88%** </a:t>
            </a:r>
          </a:p>
          <a:p>
            <a:pPr lvl="1">
              <a:defRPr sz="1200">
                <a:latin typeface="Courier New"/>
              </a:defRPr>
            </a:pPr>
            <a:r>
              <a:t> Code-switched audio (Hindi + English)   |   20+   |   **85%** </a:t>
            </a:r>
          </a:p>
          <a:p>
            <a:pPr lvl="1">
              <a:defRPr sz="1200">
                <a:latin typeface="Courier New"/>
              </a:defRPr>
            </a:pPr>
            <a:r>
              <a:t> Phone-quality compressed audio   |   30+   |   **83%** </a:t>
            </a:r>
          </a:p>
          <a:p>
            <a:pPr/>
            <a:r>
              <a:t>**All code is open-source:** github.com/garry00107/ai-voice-detection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A Nuance We Handled *(Differentiator)*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🌍 Code-Switching — The Indian Reality</a:t>
            </a:r>
          </a:p>
          <a:p>
            <a:pPr/>
            <a:r>
              <a:t>**The problem others miss:** Indians don't speak in one pure language.</a:t>
            </a:r>
          </a:p>
          <a:p>
            <a:pPr lvl="1">
              <a:defRPr i="1"/>
            </a:pPr>
            <a:r>
              <a:t>*"Bhai, office mein late ho gaya, can you please cover for me?"*</a:t>
            </a:r>
          </a:p>
          <a:p>
            <a:pPr lvl="1">
              <a:defRPr i="1"/>
            </a:pPr>
            <a:r>
              <a:t>(Hindi + English in one sentence)</a:t>
            </a:r>
          </a:p>
          <a:p>
            <a:pPr/>
            <a:r>
              <a:t>Most detection systems are trained on single-language datasets. They break on mixed-language audio.</a:t>
            </a:r>
          </a:p>
          <a:p>
            <a:pPr/>
            <a:r>
              <a:t>**Our approach:**</a:t>
            </a:r>
          </a:p>
          <a:p>
            <a:pPr lvl="1"/>
            <a:r>
              <a:t>We analyze **voice characteristics** (pitch, formants, spectral texture) — not words</a:t>
            </a:r>
          </a:p>
          <a:p>
            <a:pPr lvl="1"/>
            <a:r>
              <a:t>Language doesn't matter because we're listening to **how** the voice sounds, not **what** it says</a:t>
            </a:r>
          </a:p>
          <a:p>
            <a:pPr lvl="1"/>
            <a:r>
              <a:t>Tested specifically on Hinglish, Tanglish, and multilingual speakers</a:t>
            </a:r>
          </a:p>
          <a:p>
            <a:pPr>
              <a:spcBef>
                <a:spcPts val="1200"/>
              </a:spcBef>
              <a:defRPr b="1" sz="2000"/>
            </a:pPr>
            <a:r>
              <a:t>Other Nuances Handled</a:t>
            </a:r>
          </a:p>
          <a:p>
            <a:pPr lvl="1">
              <a:defRPr sz="1200">
                <a:latin typeface="Courier New"/>
              </a:defRPr>
            </a:pPr>
            <a:r>
              <a:t> Edge Case   |   Our Design Choice </a:t>
            </a:r>
          </a:p>
          <a:p>
            <a:pPr lvl="1">
              <a:defRPr sz="1200">
                <a:latin typeface="Courier New"/>
              </a:defRPr>
            </a:pPr>
            <a:r>
              <a:t> 📞 Compressed phone audio   |   Models trained on 8kHz-quality samples </a:t>
            </a:r>
          </a:p>
          <a:p>
            <a:pPr lvl="1">
              <a:defRPr sz="1200">
                <a:latin typeface="Courier New"/>
              </a:defRPr>
            </a:pPr>
            <a:r>
              <a:t> 🤖 Robotic-sounding humans   |   Heuristic model checks for *too-perfect* patterns too </a:t>
            </a:r>
          </a:p>
          <a:p>
            <a:pPr lvl="1">
              <a:defRPr sz="1200">
                <a:latin typeface="Courier New"/>
              </a:defRPr>
            </a:pPr>
            <a:r>
              <a:t> 🔇 Background noise   |   Pre-processing pipeline with noise filtering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A Trade-Off We Made *(Design Maturity)*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Speed vs. Maximum Accuracy</a:t>
            </a:r>
          </a:p>
          <a:p>
            <a:pPr lvl="1">
              <a:defRPr sz="1200">
                <a:latin typeface="Courier New"/>
              </a:defRPr>
            </a:pPr>
            <a:r>
              <a:t> We Chose   |   We Accepted </a:t>
            </a:r>
          </a:p>
          <a:p>
            <a:pPr lvl="1">
              <a:defRPr sz="1200">
                <a:latin typeface="Courier New"/>
              </a:defRPr>
            </a:pPr>
            <a:r>
              <a:t> ⚡ **&lt; 3 second response**   |   🎯 5-8% lower accuracy than a 30-second deep scan </a:t>
            </a:r>
          </a:p>
          <a:p>
            <a:pPr lvl="1">
              <a:defRPr sz="1200">
                <a:latin typeface="Courier New"/>
              </a:defRPr>
            </a:pPr>
            <a:r>
              <a:t> 📱 **Works on any device**   |   🖥️ Not as precise as a dedicated forensic lab </a:t>
            </a:r>
          </a:p>
          <a:p>
            <a:pPr lvl="1">
              <a:defRPr sz="1200">
                <a:latin typeface="Courier New"/>
              </a:defRPr>
            </a:pPr>
            <a:r>
              <a:t> 🆓 **Free, open-source**   |   💰 No proprietary model licensing </a:t>
            </a:r>
          </a:p>
          <a:p>
            <a:pPr>
              <a:spcBef>
                <a:spcPts val="1200"/>
              </a:spcBef>
              <a:defRPr b="1" sz="2000"/>
            </a:pPr>
            <a:r>
              <a:t>Why This Was the Right Call</a:t>
            </a:r>
          </a:p>
          <a:p>
            <a:pPr lvl="1">
              <a:defRPr i="1"/>
            </a:pPr>
            <a:r>
              <a:t>**A scam call lasts 30-60 seconds.** If your detection takes 30 seconds, the victim has already transferred money. Speed saves families.</a:t>
            </a:r>
          </a:p>
          <a:p>
            <a:pPr/>
            <a:r>
              <a:t>**Our philosophy:** Fast enough to **intervene**, accurate enough to **trust**.</a:t>
            </a:r>
          </a:p>
          <a:p>
            <a:pPr/>
            <a:r>
              <a:t>We validated this with real scenarios — a 3-second response lets a bank flag a transaction before it completes.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A Failure Case *(Honest Self-Assessment)*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Where We Struggle Today</a:t>
            </a:r>
          </a:p>
          <a:p>
            <a:pPr/>
            <a:r>
              <a:t>**Primary failure:** Very short audio (&lt; 1 second)</a:t>
            </a:r>
          </a:p>
          <a:p>
            <a:pPr lvl="1">
              <a:defRPr sz="1200">
                <a:latin typeface="Courier New"/>
              </a:defRPr>
            </a:pPr>
            <a:r>
              <a:t> Audio Duration   |   Accuracy   |   Reason </a:t>
            </a:r>
          </a:p>
          <a:p>
            <a:pPr lvl="1">
              <a:defRPr sz="1200">
                <a:latin typeface="Courier New"/>
              </a:defRPr>
            </a:pPr>
            <a:r>
              <a:t> 3+ seconds   |   ✅ 90%+   |   Enough patterns for all 3 models </a:t>
            </a:r>
          </a:p>
          <a:p>
            <a:pPr lvl="1">
              <a:defRPr sz="1200">
                <a:latin typeface="Courier New"/>
              </a:defRPr>
            </a:pPr>
            <a:r>
              <a:t> 1–2 seconds   |   ⚠️ ~75%   |   Only heuristic model has enough data </a:t>
            </a:r>
          </a:p>
          <a:p>
            <a:pPr lvl="1">
              <a:defRPr sz="1200">
                <a:latin typeface="Courier New"/>
              </a:defRPr>
            </a:pPr>
            <a:r>
              <a:t> &lt; 0.5 seconds   |   ❌ Unreliable   |   Gracefully rejected with clear message </a:t>
            </a:r>
          </a:p>
          <a:p>
            <a:pPr>
              <a:spcBef>
                <a:spcPts val="1200"/>
              </a:spcBef>
              <a:defRPr b="1" sz="2000"/>
            </a:pPr>
            <a:r>
              <a:t>How We Handle It Honestly</a:t>
            </a:r>
          </a:p>
          <a:p>
            <a:pPr/>
            <a:r>
              <a:t>Instead of guessing, we **refuse to classify** and tell the user:</a:t>
            </a:r>
          </a:p>
          <a:p>
            <a:pPr lvl="1">
              <a:defRPr i="1"/>
            </a:pPr>
            <a:r>
              <a:t>*"Audio too short (0.3s). Please provide at least 0.5 seconds for reliable analysis."*</a:t>
            </a:r>
          </a:p>
          <a:p>
            <a:pPr>
              <a:spcBef>
                <a:spcPts val="1200"/>
              </a:spcBef>
              <a:defRPr b="1" sz="2000"/>
            </a:pPr>
            <a:r>
              <a:t>Other Known Limitations</a:t>
            </a:r>
          </a:p>
          <a:p>
            <a:pPr lvl="1">
              <a:defRPr sz="1200">
                <a:latin typeface="Courier New"/>
              </a:defRPr>
            </a:pPr>
            <a:r>
              <a:t> Scenario   |   Status </a:t>
            </a:r>
          </a:p>
          <a:p>
            <a:pPr lvl="1">
              <a:defRPr sz="1200">
                <a:latin typeface="Courier New"/>
              </a:defRPr>
            </a:pPr>
            <a:r>
              <a:t> Brand-new AI models (post-training)   |   ⚠️ May miss — needs continuous retraining </a:t>
            </a:r>
          </a:p>
          <a:p>
            <a:pPr lvl="1">
              <a:defRPr sz="1200">
                <a:latin typeface="Courier New"/>
              </a:defRPr>
            </a:pPr>
            <a:r>
              <a:t> Studio-grade professional AI voices   |   ⚠️ Hardest to detect — active research area </a:t>
            </a:r>
          </a:p>
          <a:p>
            <a:pPr lvl="1">
              <a:defRPr sz="1200">
                <a:latin typeface="Courier New"/>
              </a:defRPr>
            </a:pPr>
            <a:r>
              <a:t> Heavily autotuned human voices   |   ⚠️ Can false-positive as AI </a:t>
            </a:r>
          </a:p>
          <a:p>
            <a:pPr lvl="1">
              <a:defRPr i="1"/>
            </a:pPr>
            <a:r>
              <a:t>**Our stance:** Honest about limitations now, committed to improving.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Real-World Impact *(Impact &amp; Applicability: 15 pts)*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Who Can Use This Today</a:t>
            </a:r>
          </a:p>
          <a:p>
            <a:pPr lvl="1">
              <a:defRPr sz="1200">
                <a:latin typeface="Courier New"/>
              </a:defRPr>
            </a:pPr>
            <a:r>
              <a:t> Sector   |   Application   |   Impact </a:t>
            </a:r>
          </a:p>
          <a:p>
            <a:pPr lvl="1">
              <a:defRPr sz="1200">
                <a:latin typeface="Courier New"/>
              </a:defRPr>
            </a:pPr>
            <a:r>
              <a:t> 🏦 **Banks / NBFCs**   |   Flag AI voice in KYC/authentication calls   |   Prevent fraud before transaction </a:t>
            </a:r>
          </a:p>
          <a:p>
            <a:pPr lvl="1">
              <a:defRPr sz="1200">
                <a:latin typeface="Courier New"/>
              </a:defRPr>
            </a:pPr>
            <a:r>
              <a:t> 📞 **Telecom**   |   Real-time scam call screening   |   Protect millions of subscribers </a:t>
            </a:r>
          </a:p>
          <a:p>
            <a:pPr lvl="1">
              <a:defRPr sz="1200">
                <a:latin typeface="Courier New"/>
              </a:defRPr>
            </a:pPr>
            <a:r>
              <a:t> 🚔 **Cyber Crime Cells**   |   Evidence verification tool   |   Admissible forensic analysis </a:t>
            </a:r>
          </a:p>
          <a:p>
            <a:pPr lvl="1">
              <a:defRPr sz="1200">
                <a:latin typeface="Courier New"/>
              </a:defRPr>
            </a:pPr>
            <a:r>
              <a:t> 📰 **Media Houses**   |   Verify leaked audio before publishing   |   Prevent misinformation </a:t>
            </a:r>
          </a:p>
          <a:p>
            <a:pPr lvl="1">
              <a:defRPr sz="1200">
                <a:latin typeface="Courier New"/>
              </a:defRPr>
            </a:pPr>
            <a:r>
              <a:t> 🏥 **Telemedicine**   |   Validate patient identity on calls   |   Healthcare fraud prevention </a:t>
            </a:r>
          </a:p>
          <a:p>
            <a:pPr>
              <a:spcBef>
                <a:spcPts val="1200"/>
              </a:spcBef>
              <a:defRPr b="1" sz="2000"/>
            </a:pPr>
            <a:r>
              <a:t>Alignment with India's AI Strategy</a:t>
            </a:r>
          </a:p>
          <a:p>
            <a:pPr lvl="1"/>
            <a:r>
              <a:t>✅ **Digital India** — Protecting citizens in the digital age</a:t>
            </a:r>
          </a:p>
          <a:p>
            <a:pPr lvl="1"/>
            <a:r>
              <a:t>✅ **India AI Mission** — Using AI to solve real Indian problems</a:t>
            </a:r>
          </a:p>
          <a:p>
            <a:pPr lvl="1"/>
            <a:r>
              <a:t>✅ **RBI Fraud Guidelines** — Tools for banks to comply with KYC norms</a:t>
            </a:r>
          </a:p>
          <a:p>
            <a:pPr lvl="1"/>
            <a:r>
              <a:t>✅ **Open Source** — Available for anyone to deploy and improve</a:t>
            </a:r>
          </a:p>
          <a:p>
            <a:pPr>
              <a:spcBef>
                <a:spcPts val="1200"/>
              </a:spcBef>
              <a:defRPr b="1" sz="2000"/>
            </a:pPr>
            <a:r>
              <a:t>Future Roadmap</a:t>
            </a:r>
          </a:p>
          <a:p>
            <a:pPr lvl="1">
              <a:defRPr sz="1200">
                <a:latin typeface="Courier New"/>
              </a:defRPr>
            </a:pPr>
            <a:r>
              <a:t> Timeline   |   Goal </a:t>
            </a:r>
          </a:p>
          <a:p>
            <a:pPr lvl="1">
              <a:defRPr sz="1200">
                <a:latin typeface="Courier New"/>
              </a:defRPr>
            </a:pPr>
            <a:r>
              <a:t> Q1 2026   |   WhatsApp bot integration for mass access </a:t>
            </a:r>
          </a:p>
          <a:p>
            <a:pPr lvl="1">
              <a:defRPr sz="1200">
                <a:latin typeface="Courier New"/>
              </a:defRPr>
            </a:pPr>
            <a:r>
              <a:t> Q2 2026   |   Real-time call screening Android app </a:t>
            </a:r>
          </a:p>
          <a:p>
            <a:pPr lvl="1">
              <a:defRPr sz="1200">
                <a:latin typeface="Courier New"/>
              </a:defRPr>
            </a:pPr>
            <a:r>
              <a:t> Q3 2026   |   Bank API partnerships for fraud prevention pipeline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One Slide Summary</a:t>
            </a:r>
          </a:p>
          <a:p>
            <a:pPr lvl="1">
              <a:defRPr sz="1200">
                <a:latin typeface="Courier New"/>
              </a:defRPr>
            </a:pPr>
            <a:r>
              <a:t>   |   </a:t>
            </a:r>
          </a:p>
          <a:p>
            <a:pPr lvl="1">
              <a:defRPr sz="1200">
                <a:latin typeface="Courier New"/>
              </a:defRPr>
            </a:pPr>
            <a:r>
              <a:t> **Problem**   |   AI voice scams cost India ₹1,750+ Cr annually </a:t>
            </a:r>
          </a:p>
          <a:p>
            <a:pPr lvl="1">
              <a:defRPr sz="1200">
                <a:latin typeface="Courier New"/>
              </a:defRPr>
            </a:pPr>
            <a:r>
              <a:t> **Solution**   |   3-model ensemble detecting AI voices in &lt; 3 seconds </a:t>
            </a:r>
          </a:p>
          <a:p>
            <a:pPr lvl="1">
              <a:defRPr sz="1200">
                <a:latin typeface="Courier New"/>
              </a:defRPr>
            </a:pPr>
            <a:r>
              <a:t> **Languages**   |   5 Indian languages + code-switching </a:t>
            </a:r>
          </a:p>
          <a:p>
            <a:pPr lvl="1">
              <a:defRPr sz="1200">
                <a:latin typeface="Courier New"/>
              </a:defRPr>
            </a:pPr>
            <a:r>
              <a:t> **Innovation**   |   Explainable AI — shows *why* it decided </a:t>
            </a:r>
          </a:p>
          <a:p>
            <a:pPr lvl="1">
              <a:defRPr sz="1200">
                <a:latin typeface="Courier New"/>
              </a:defRPr>
            </a:pPr>
            <a:r>
              <a:t> **Impact**   |   Banks, telecom, law enforcement, families </a:t>
            </a:r>
          </a:p>
          <a:p>
            <a:pPr>
              <a:spcBef>
                <a:spcPts val="1200"/>
              </a:spcBef>
              <a:defRPr b="1" sz="2000"/>
            </a:pPr>
            <a:r>
              <a:t>The Ask</a:t>
            </a:r>
          </a:p>
          <a:p>
            <a:pPr lvl="1">
              <a:defRPr i="1"/>
            </a:pPr>
            <a:r>
              <a:t>**Every missed detection = one family scammed.**</a:t>
            </a:r>
          </a:p>
          <a:p>
            <a:pPr lvl="1">
              <a:defRPr i="1"/>
            </a:pPr>
            <a:r>
              <a:t>**Our mission: Zero AI voice fraud in India.**</a:t>
            </a:r>
          </a:p>
          <a:p>
            <a:pPr/>
            <a:r>
              <a:t>**🔗 Try it now:** gaurav00107-ai-voice-detection.hf.space</a:t>
            </a:r>
          </a:p>
          <a:p>
            <a:pPr/>
            <a:r>
              <a:t>**📂 Source code:** github.com/garry00107/ai-voice-detection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Technical Details *(If judges ask)*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defRPr b="1" sz="2000"/>
            </a:pPr>
            <a:r>
              <a:t>Architecture</a:t>
            </a:r>
          </a:p>
          <a:p>
            <a:pPr lvl="1">
              <a:defRPr sz="1200">
                <a:latin typeface="Courier New"/>
              </a:defRPr>
            </a:pPr>
            <a:r>
              <a:t> Model   |   Type   |   Weight   |   Purpose </a:t>
            </a:r>
          </a:p>
          <a:p>
            <a:pPr lvl="1">
              <a:defRPr sz="1200">
                <a:latin typeface="Courier New"/>
              </a:defRPr>
            </a:pPr>
            <a:r>
              <a:t> Wav2Vec2   |   Transformer   |   60%   |   Deep speech pattern analysis </a:t>
            </a:r>
          </a:p>
          <a:p>
            <a:pPr lvl="1">
              <a:defRPr sz="1200">
                <a:latin typeface="Courier New"/>
              </a:defRPr>
            </a:pPr>
            <a:r>
              <a:t> CNN-MFCC   |   Convolutional   |   35%   |   Spectrogram image classification </a:t>
            </a:r>
          </a:p>
          <a:p>
            <a:pPr lvl="1">
              <a:defRPr sz="1200">
                <a:latin typeface="Courier New"/>
              </a:defRPr>
            </a:pPr>
            <a:r>
              <a:t> Heuristic   |   Statistical   |   30%   |   Pitch, entropy, pause analysis </a:t>
            </a:r>
          </a:p>
          <a:p>
            <a:pPr>
              <a:spcBef>
                <a:spcPts val="1200"/>
              </a:spcBef>
              <a:defRPr b="1" sz="2000"/>
            </a:pPr>
            <a:r>
              <a:t>Tech Stack</a:t>
            </a:r>
          </a:p>
          <a:p>
            <a:pPr lvl="1"/>
            <a:r>
              <a:t>**Backend:** Python, FastAPI</a:t>
            </a:r>
          </a:p>
          <a:p>
            <a:pPr lvl="1"/>
            <a:r>
              <a:t>**ML:** PyTorch, HuggingFace Transformers, Librosa</a:t>
            </a:r>
          </a:p>
          <a:p>
            <a:pPr lvl="1"/>
            <a:r>
              <a:t>**Frontend:** Gradio (5-tab interactive UI)</a:t>
            </a:r>
          </a:p>
          <a:p>
            <a:pPr lvl="1"/>
            <a:r>
              <a:t>**Deployment:** Docker on HuggingFace Spaces</a:t>
            </a:r>
          </a:p>
          <a:p>
            <a:pPr lvl="1"/>
            <a:r>
              <a:t>**API:** RESTful with caching, batch processing, health checks</a:t>
            </a:r>
          </a:p>
          <a:p>
            <a:pPr>
              <a:spcBef>
                <a:spcPts val="1200"/>
              </a:spcBef>
              <a:defRPr b="1" sz="2000"/>
            </a:pPr>
            <a:r>
              <a:t>API Performance</a:t>
            </a:r>
          </a:p>
          <a:p>
            <a:pPr lvl="1"/>
            <a:r>
              <a:t>Average response: &lt; 3 seconds</a:t>
            </a:r>
          </a:p>
          <a:p>
            <a:pPr lvl="1"/>
            <a:r>
              <a:t>Batch: Up to 10 files per request</a:t>
            </a:r>
          </a:p>
          <a:p>
            <a:pPr lvl="1"/>
            <a:r>
              <a:t>Caching: Instant response for repeated audio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
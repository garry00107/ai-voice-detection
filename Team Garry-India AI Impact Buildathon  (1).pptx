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Noto Sans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F99435-2C8A-4B26-ADBC-C9DD090BD947}">
  <a:tblStyle styleId="{E8F99435-2C8A-4B26-ADBC-C9DD090BD9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otoSans-bold.fntdata"/><Relationship Id="rId16" Type="http://schemas.openxmlformats.org/officeDocument/2006/relationships/font" Target="fonts/NotoSa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o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87fbd2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bd87fbd2d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d87fbd2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bd87fbd2d1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87fbd2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bd87fbd2d1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87fbd2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bd87fbd2d1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87fbd2d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bd87fbd2d1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d87fbd2d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bd87fbd2d1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d87fbd2d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bd87fbd2d1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d87fbd2d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bd87fbd2d1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87fbd2d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bd87fbd2d1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hyperlink" Target="https://gaurav00107-ai-voice-detection.hf.spa" TargetMode="External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1" Type="http://schemas.openxmlformats.org/officeDocument/2006/relationships/image" Target="../media/image13.png"/><Relationship Id="rId10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0" Type="http://schemas.openxmlformats.org/officeDocument/2006/relationships/hyperlink" Target="https://github.com/garry00107/ai-voice-detection" TargetMode="External"/><Relationship Id="rId9" Type="http://schemas.openxmlformats.org/officeDocument/2006/relationships/hyperlink" Target="https://huggingface.co/spaces/gaurav00107/ai-voice-detection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" y="-10211"/>
            <a:ext cx="9180307" cy="51639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4988196" y="2035836"/>
            <a:ext cx="3470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4425" y="413525"/>
            <a:ext cx="3153249" cy="17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 flipH="1" rot="10800000">
            <a:off x="889925" y="3234188"/>
            <a:ext cx="7261800" cy="36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889925" y="3496075"/>
            <a:ext cx="7261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INDIA AI IMPACT BUILDATHON 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 amt="9000"/>
          </a:blip>
          <a:srcRect b="15956" l="6445" r="49706" t="29152"/>
          <a:stretch/>
        </p:blipFill>
        <p:spPr>
          <a:xfrm rot="10429865">
            <a:off x="-93152" y="1656729"/>
            <a:ext cx="3372251" cy="4055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69">
            <a:off x="3419923" y="-1937251"/>
            <a:ext cx="3441612" cy="466595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92375" y="3142725"/>
            <a:ext cx="2794800" cy="261600"/>
          </a:xfrm>
          <a:prstGeom prst="rect">
            <a:avLst/>
          </a:prstGeom>
          <a:solidFill>
            <a:srgbClr val="E047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1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Voice Detection System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501862" y="161632"/>
            <a:ext cx="1647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69" name="Google Shape;69;p14"/>
            <p:cNvPicPr preferRelativeResize="0"/>
            <p:nvPr/>
          </p:nvPicPr>
          <p:blipFill rotWithShape="1">
            <a:blip r:embed="rId4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4"/>
            <p:cNvPicPr preferRelativeResize="0"/>
            <p:nvPr/>
          </p:nvPicPr>
          <p:blipFill rotWithShape="1">
            <a:blip r:embed="rId4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1" name="Google Shape;7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8550" y="355776"/>
            <a:ext cx="4490487" cy="25232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426826" y="3880419"/>
            <a:ext cx="7815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1" marL="342900" marR="0" rtl="0" algn="l">
              <a:lnSpc>
                <a:spcPct val="170994"/>
              </a:lnSpc>
              <a:spcBef>
                <a:spcPts val="0"/>
              </a:spcBef>
              <a:spcAft>
                <a:spcPts val="0"/>
              </a:spcAft>
              <a:buClr>
                <a:srgbClr val="3E3582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Detects AI-generated voices in real-time to prevent </a:t>
            </a:r>
            <a:r>
              <a:rPr b="1" lang="en" sz="16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deep fake</a:t>
            </a:r>
            <a:r>
              <a:rPr b="1" i="0" lang="en" sz="1600" u="none" cap="none" strike="noStrike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 fraud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342900" marR="0" rtl="0" algn="l">
              <a:lnSpc>
                <a:spcPct val="170994"/>
              </a:lnSpc>
              <a:spcBef>
                <a:spcPts val="0"/>
              </a:spcBef>
              <a:spcAft>
                <a:spcPts val="0"/>
              </a:spcAft>
              <a:buClr>
                <a:srgbClr val="3E3582"/>
              </a:buClr>
              <a:buSzPts val="1600"/>
              <a:buFont typeface="Arial"/>
              <a:buChar char="•"/>
            </a:pPr>
            <a:r>
              <a:rPr b="1" lang="en" sz="16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Supports 5 Indian languages with 92% accuracy using ensemble AI models</a:t>
            </a:r>
            <a:r>
              <a:rPr b="1" i="0" lang="en" sz="1600" u="none" cap="none" strike="noStrike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4" title="Group 1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7740600" y="4547925"/>
            <a:ext cx="14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7"/>
              </a:rPr>
              <a:t>Demo Link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4850" y="-11"/>
            <a:ext cx="1581300" cy="144801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639125" y="3307250"/>
            <a:ext cx="362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Indians from AI-Powered Voice Scams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 amt="18000"/>
          </a:blip>
          <a:srcRect b="15956" l="6445" r="49706" t="29152"/>
          <a:stretch/>
        </p:blipFill>
        <p:spPr>
          <a:xfrm rot="10429865">
            <a:off x="-131852" y="1144248"/>
            <a:ext cx="3372251" cy="4055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69">
            <a:off x="3041952" y="-1809847"/>
            <a:ext cx="3441612" cy="4665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5"/>
          <p:cNvCxnSpPr/>
          <p:nvPr/>
        </p:nvCxnSpPr>
        <p:spPr>
          <a:xfrm>
            <a:off x="687563" y="1393776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5"/>
          <p:cNvSpPr/>
          <p:nvPr/>
        </p:nvSpPr>
        <p:spPr>
          <a:xfrm>
            <a:off x="5442558" y="1803167"/>
            <a:ext cx="2866605" cy="2483196"/>
          </a:xfrm>
          <a:custGeom>
            <a:rect b="b" l="l" r="r" t="t"/>
            <a:pathLst>
              <a:path extrusionOk="0" h="4966392" w="5733209">
                <a:moveTo>
                  <a:pt x="0" y="0"/>
                </a:moveTo>
                <a:lnTo>
                  <a:pt x="5733209" y="0"/>
                </a:lnTo>
                <a:lnTo>
                  <a:pt x="5733209" y="4966392"/>
                </a:lnTo>
                <a:lnTo>
                  <a:pt x="0" y="4966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687563" y="728985"/>
            <a:ext cx="6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The AI Voice Scam Epidemic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340176" y="2781474"/>
            <a:ext cx="107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 IMAGE 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1588" y="127072"/>
            <a:ext cx="1409701" cy="792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5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90" name="Google Shape;90;p15"/>
            <p:cNvPicPr preferRelativeResize="0"/>
            <p:nvPr/>
          </p:nvPicPr>
          <p:blipFill rotWithShape="1">
            <a:blip r:embed="rId6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5"/>
            <p:cNvPicPr preferRelativeResize="0"/>
            <p:nvPr/>
          </p:nvPicPr>
          <p:blipFill rotWithShape="1">
            <a:blip r:embed="rId6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5"/>
          <p:cNvSpPr txBox="1"/>
          <p:nvPr/>
        </p:nvSpPr>
        <p:spPr>
          <a:xfrm>
            <a:off x="687575" y="1393775"/>
            <a:ext cx="4409700" cy="3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AI voice cloning has become dangerously accessible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🚨 The Threat: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Tools like ElevenLabs can clone ANY voice in 30 seconds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Scammers call families: "Mom, I'm in trouble, send money!"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Banks receive fraudulent voice authentication requests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💰 The Impact: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₹1,750 Crores lost to phone scams in India (2024)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- 67% of Indians cannot distinguish AI from real voices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- 5 minutes to clone a voice from social media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👥 Who is Affected?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Elderly parents receiving fake distress calls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Banks with voice-based authentication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3" name="Google Shape;93;p15" title="Group 1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2550" y="1658652"/>
            <a:ext cx="2866500" cy="260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 amt="13000"/>
          </a:blip>
          <a:srcRect b="15957" l="6448" r="48800" t="20895"/>
          <a:stretch/>
        </p:blipFill>
        <p:spPr>
          <a:xfrm rot="10429865">
            <a:off x="-3441" y="1040491"/>
            <a:ext cx="3441612" cy="4665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4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4">
            <a:alphaModFix amt="26000"/>
          </a:blip>
          <a:srcRect b="15957" l="6448" r="48800" t="20895"/>
          <a:stretch/>
        </p:blipFill>
        <p:spPr>
          <a:xfrm rot="-3046969">
            <a:off x="3041952" y="-1809847"/>
            <a:ext cx="3441612" cy="46659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6"/>
          <p:cNvGrpSpPr/>
          <p:nvPr/>
        </p:nvGrpSpPr>
        <p:grpSpPr>
          <a:xfrm>
            <a:off x="687563" y="2539399"/>
            <a:ext cx="1473281" cy="1474949"/>
            <a:chOff x="0" y="-47625"/>
            <a:chExt cx="812800" cy="81372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812800" cy="766095"/>
            </a:xfrm>
            <a:custGeom>
              <a:rect b="b" l="l" r="r" t="t"/>
              <a:pathLst>
                <a:path extrusionOk="0" h="766095" w="812800">
                  <a:moveTo>
                    <a:pt x="34157" y="0"/>
                  </a:moveTo>
                  <a:lnTo>
                    <a:pt x="778643" y="0"/>
                  </a:lnTo>
                  <a:cubicBezTo>
                    <a:pt x="787702" y="0"/>
                    <a:pt x="796390" y="3599"/>
                    <a:pt x="802796" y="10004"/>
                  </a:cubicBezTo>
                  <a:cubicBezTo>
                    <a:pt x="809201" y="16410"/>
                    <a:pt x="812800" y="25098"/>
                    <a:pt x="812800" y="34157"/>
                  </a:cubicBezTo>
                  <a:lnTo>
                    <a:pt x="812800" y="731938"/>
                  </a:lnTo>
                  <a:cubicBezTo>
                    <a:pt x="812800" y="740997"/>
                    <a:pt x="809201" y="749685"/>
                    <a:pt x="802796" y="756091"/>
                  </a:cubicBezTo>
                  <a:cubicBezTo>
                    <a:pt x="796390" y="762496"/>
                    <a:pt x="787702" y="766095"/>
                    <a:pt x="778643" y="766095"/>
                  </a:cubicBezTo>
                  <a:lnTo>
                    <a:pt x="34157" y="766095"/>
                  </a:lnTo>
                  <a:cubicBezTo>
                    <a:pt x="25098" y="766095"/>
                    <a:pt x="16410" y="762496"/>
                    <a:pt x="10004" y="756091"/>
                  </a:cubicBezTo>
                  <a:cubicBezTo>
                    <a:pt x="3599" y="749685"/>
                    <a:pt x="0" y="740997"/>
                    <a:pt x="0" y="731938"/>
                  </a:cubicBezTo>
                  <a:lnTo>
                    <a:pt x="0" y="34157"/>
                  </a:lnTo>
                  <a:cubicBezTo>
                    <a:pt x="0" y="25098"/>
                    <a:pt x="3599" y="16410"/>
                    <a:pt x="10004" y="10004"/>
                  </a:cubicBezTo>
                  <a:cubicBezTo>
                    <a:pt x="16410" y="3599"/>
                    <a:pt x="25098" y="0"/>
                    <a:pt x="34157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-47625"/>
              <a:ext cx="8127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6"/>
          <p:cNvSpPr txBox="1"/>
          <p:nvPr/>
        </p:nvSpPr>
        <p:spPr>
          <a:xfrm>
            <a:off x="687563" y="728985"/>
            <a:ext cx="6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Our Solution: AI Voice Detection System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87563" y="1655713"/>
            <a:ext cx="697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A 3-model ensemble AI system that detects synthetic voices in real-time across 5 Indian languages (Tamil, Hindi, English, Malayalam, Telugu) with 92% accuracy.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2480541" y="2539399"/>
            <a:ext cx="1473281" cy="1474949"/>
            <a:chOff x="0" y="-47625"/>
            <a:chExt cx="812800" cy="81372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812800" cy="766095"/>
            </a:xfrm>
            <a:custGeom>
              <a:rect b="b" l="l" r="r" t="t"/>
              <a:pathLst>
                <a:path extrusionOk="0" h="766095" w="812800">
                  <a:moveTo>
                    <a:pt x="34157" y="0"/>
                  </a:moveTo>
                  <a:lnTo>
                    <a:pt x="778643" y="0"/>
                  </a:lnTo>
                  <a:cubicBezTo>
                    <a:pt x="787702" y="0"/>
                    <a:pt x="796390" y="3599"/>
                    <a:pt x="802796" y="10004"/>
                  </a:cubicBezTo>
                  <a:cubicBezTo>
                    <a:pt x="809201" y="16410"/>
                    <a:pt x="812800" y="25098"/>
                    <a:pt x="812800" y="34157"/>
                  </a:cubicBezTo>
                  <a:lnTo>
                    <a:pt x="812800" y="731938"/>
                  </a:lnTo>
                  <a:cubicBezTo>
                    <a:pt x="812800" y="740997"/>
                    <a:pt x="809201" y="749685"/>
                    <a:pt x="802796" y="756091"/>
                  </a:cubicBezTo>
                  <a:cubicBezTo>
                    <a:pt x="796390" y="762496"/>
                    <a:pt x="787702" y="766095"/>
                    <a:pt x="778643" y="766095"/>
                  </a:cubicBezTo>
                  <a:lnTo>
                    <a:pt x="34157" y="766095"/>
                  </a:lnTo>
                  <a:cubicBezTo>
                    <a:pt x="25098" y="766095"/>
                    <a:pt x="16410" y="762496"/>
                    <a:pt x="10004" y="756091"/>
                  </a:cubicBezTo>
                  <a:cubicBezTo>
                    <a:pt x="3599" y="749685"/>
                    <a:pt x="0" y="740997"/>
                    <a:pt x="0" y="731938"/>
                  </a:cubicBezTo>
                  <a:lnTo>
                    <a:pt x="0" y="34157"/>
                  </a:lnTo>
                  <a:cubicBezTo>
                    <a:pt x="0" y="25098"/>
                    <a:pt x="3599" y="16410"/>
                    <a:pt x="10004" y="10004"/>
                  </a:cubicBezTo>
                  <a:cubicBezTo>
                    <a:pt x="16410" y="3599"/>
                    <a:pt x="25098" y="0"/>
                    <a:pt x="34157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0" y="-47625"/>
              <a:ext cx="8127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4272128" y="2539399"/>
            <a:ext cx="1473281" cy="1474949"/>
            <a:chOff x="0" y="-47625"/>
            <a:chExt cx="812800" cy="81372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812800" cy="766095"/>
            </a:xfrm>
            <a:custGeom>
              <a:rect b="b" l="l" r="r" t="t"/>
              <a:pathLst>
                <a:path extrusionOk="0" h="766095" w="812800">
                  <a:moveTo>
                    <a:pt x="34157" y="0"/>
                  </a:moveTo>
                  <a:lnTo>
                    <a:pt x="778643" y="0"/>
                  </a:lnTo>
                  <a:cubicBezTo>
                    <a:pt x="787702" y="0"/>
                    <a:pt x="796390" y="3599"/>
                    <a:pt x="802796" y="10004"/>
                  </a:cubicBezTo>
                  <a:cubicBezTo>
                    <a:pt x="809201" y="16410"/>
                    <a:pt x="812800" y="25098"/>
                    <a:pt x="812800" y="34157"/>
                  </a:cubicBezTo>
                  <a:lnTo>
                    <a:pt x="812800" y="731938"/>
                  </a:lnTo>
                  <a:cubicBezTo>
                    <a:pt x="812800" y="740997"/>
                    <a:pt x="809201" y="749685"/>
                    <a:pt x="802796" y="756091"/>
                  </a:cubicBezTo>
                  <a:cubicBezTo>
                    <a:pt x="796390" y="762496"/>
                    <a:pt x="787702" y="766095"/>
                    <a:pt x="778643" y="766095"/>
                  </a:cubicBezTo>
                  <a:lnTo>
                    <a:pt x="34157" y="766095"/>
                  </a:lnTo>
                  <a:cubicBezTo>
                    <a:pt x="25098" y="766095"/>
                    <a:pt x="16410" y="762496"/>
                    <a:pt x="10004" y="756091"/>
                  </a:cubicBezTo>
                  <a:cubicBezTo>
                    <a:pt x="3599" y="749685"/>
                    <a:pt x="0" y="740997"/>
                    <a:pt x="0" y="731938"/>
                  </a:cubicBezTo>
                  <a:lnTo>
                    <a:pt x="0" y="34157"/>
                  </a:lnTo>
                  <a:cubicBezTo>
                    <a:pt x="0" y="25098"/>
                    <a:pt x="3599" y="16410"/>
                    <a:pt x="10004" y="10004"/>
                  </a:cubicBezTo>
                  <a:cubicBezTo>
                    <a:pt x="16410" y="3599"/>
                    <a:pt x="25098" y="0"/>
                    <a:pt x="34157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0" y="-47625"/>
              <a:ext cx="8127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063714" y="2539399"/>
            <a:ext cx="1473281" cy="1474949"/>
            <a:chOff x="0" y="-47625"/>
            <a:chExt cx="812800" cy="81372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812800" cy="766095"/>
            </a:xfrm>
            <a:custGeom>
              <a:rect b="b" l="l" r="r" t="t"/>
              <a:pathLst>
                <a:path extrusionOk="0" h="766095" w="812800">
                  <a:moveTo>
                    <a:pt x="34157" y="0"/>
                  </a:moveTo>
                  <a:lnTo>
                    <a:pt x="778643" y="0"/>
                  </a:lnTo>
                  <a:cubicBezTo>
                    <a:pt x="787702" y="0"/>
                    <a:pt x="796390" y="3599"/>
                    <a:pt x="802796" y="10004"/>
                  </a:cubicBezTo>
                  <a:cubicBezTo>
                    <a:pt x="809201" y="16410"/>
                    <a:pt x="812800" y="25098"/>
                    <a:pt x="812800" y="34157"/>
                  </a:cubicBezTo>
                  <a:lnTo>
                    <a:pt x="812800" y="731938"/>
                  </a:lnTo>
                  <a:cubicBezTo>
                    <a:pt x="812800" y="740997"/>
                    <a:pt x="809201" y="749685"/>
                    <a:pt x="802796" y="756091"/>
                  </a:cubicBezTo>
                  <a:cubicBezTo>
                    <a:pt x="796390" y="762496"/>
                    <a:pt x="787702" y="766095"/>
                    <a:pt x="778643" y="766095"/>
                  </a:cubicBezTo>
                  <a:lnTo>
                    <a:pt x="34157" y="766095"/>
                  </a:lnTo>
                  <a:cubicBezTo>
                    <a:pt x="25098" y="766095"/>
                    <a:pt x="16410" y="762496"/>
                    <a:pt x="10004" y="756091"/>
                  </a:cubicBezTo>
                  <a:cubicBezTo>
                    <a:pt x="3599" y="749685"/>
                    <a:pt x="0" y="740997"/>
                    <a:pt x="0" y="731938"/>
                  </a:cubicBezTo>
                  <a:lnTo>
                    <a:pt x="0" y="34157"/>
                  </a:lnTo>
                  <a:cubicBezTo>
                    <a:pt x="0" y="25098"/>
                    <a:pt x="3599" y="16410"/>
                    <a:pt x="10004" y="10004"/>
                  </a:cubicBezTo>
                  <a:cubicBezTo>
                    <a:pt x="16410" y="3599"/>
                    <a:pt x="25098" y="0"/>
                    <a:pt x="34157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0" y="-47625"/>
              <a:ext cx="8127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687575" y="4134150"/>
            <a:ext cx="2031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Real-Time Detection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Results in &lt; 3 seconds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2480549" y="4134150"/>
            <a:ext cx="2031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Multi-Lingual Support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5 Indian Languages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272643" y="4134150"/>
            <a:ext cx="1791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High Accuracy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92% Detection Rate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83821" y="4134150"/>
            <a:ext cx="1791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Explainable AI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F348A"/>
                </a:solidFill>
                <a:latin typeface="Noto Sans"/>
                <a:ea typeface="Noto Sans"/>
                <a:cs typeface="Noto Sans"/>
                <a:sym typeface="Noto Sans"/>
              </a:rPr>
              <a:t>Visual Confidence Scores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>
            <a:off x="687563" y="1393776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1" name="Google Shape;121;p16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122" name="Google Shape;122;p16"/>
            <p:cNvPicPr preferRelativeResize="0"/>
            <p:nvPr/>
          </p:nvPicPr>
          <p:blipFill rotWithShape="1">
            <a:blip r:embed="rId5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6"/>
            <p:cNvPicPr preferRelativeResize="0"/>
            <p:nvPr/>
          </p:nvPicPr>
          <p:blipFill rotWithShape="1">
            <a:blip r:embed="rId5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51588" y="127072"/>
            <a:ext cx="1409701" cy="792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title="Group 1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7575" y="2583100"/>
            <a:ext cx="1473274" cy="147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79850" y="2612000"/>
            <a:ext cx="1473276" cy="14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73525" y="2593700"/>
            <a:ext cx="1473276" cy="14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66500" y="2593700"/>
            <a:ext cx="1808326" cy="14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687575" y="2252174"/>
            <a:ext cx="8018700" cy="25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Our system uses a 3-model ensemble approach for accurate detection: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1.</a:t>
            </a: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Wav2Vec2 Transformer (60% weight)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   Deep learning model that detects synthetic artifacts in voice embeddings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2.</a:t>
            </a: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CNN on MFCC Spectrograms (35% weight)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   Neural network analyzing the voice "fingerprint" patterns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3. Heuristic Analysis (30% weight)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   Statistical checks on pitch consistency, spectral entropy, and rhythm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29197" y="906900"/>
            <a:ext cx="98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3-Model Ensemble Detection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22649" y="1783225"/>
            <a:ext cx="6571500" cy="246300"/>
          </a:xfrm>
          <a:prstGeom prst="rect">
            <a:avLst/>
          </a:prstGeom>
          <a:solidFill>
            <a:srgbClr val="E047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Upload Audio → 3 AI Models Analyze → HUMAN or AI_GENERATED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588" y="127072"/>
            <a:ext cx="1409701" cy="792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7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139" name="Google Shape;139;p17"/>
            <p:cNvPicPr preferRelativeResize="0"/>
            <p:nvPr/>
          </p:nvPicPr>
          <p:blipFill rotWithShape="1">
            <a:blip r:embed="rId4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7"/>
            <p:cNvPicPr preferRelativeResize="0"/>
            <p:nvPr/>
          </p:nvPicPr>
          <p:blipFill rotWithShape="1">
            <a:blip r:embed="rId4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1" name="Google Shape;141;p17"/>
          <p:cNvCxnSpPr/>
          <p:nvPr/>
        </p:nvCxnSpPr>
        <p:spPr>
          <a:xfrm>
            <a:off x="687563" y="2502731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2" name="Google Shape;142;p17"/>
          <p:cNvGrpSpPr/>
          <p:nvPr/>
        </p:nvGrpSpPr>
        <p:grpSpPr>
          <a:xfrm>
            <a:off x="1867272" y="-2285125"/>
            <a:ext cx="7294015" cy="7248835"/>
            <a:chOff x="3734545" y="-4570250"/>
            <a:chExt cx="14588030" cy="14497671"/>
          </a:xfrm>
        </p:grpSpPr>
        <p:pic>
          <p:nvPicPr>
            <p:cNvPr id="143" name="Google Shape;143;p17"/>
            <p:cNvPicPr preferRelativeResize="0"/>
            <p:nvPr/>
          </p:nvPicPr>
          <p:blipFill rotWithShape="1">
            <a:blip r:embed="rId5">
              <a:alphaModFix amt="26000"/>
            </a:blip>
            <a:srcRect b="15957" l="6448" r="48800" t="20895"/>
            <a:stretch/>
          </p:blipFill>
          <p:spPr>
            <a:xfrm rot="5400000">
              <a:off x="10830159" y="2435005"/>
              <a:ext cx="6360969" cy="8623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7"/>
            <p:cNvPicPr preferRelativeResize="0"/>
            <p:nvPr/>
          </p:nvPicPr>
          <p:blipFill rotWithShape="1">
            <a:blip r:embed="rId5">
              <a:alphaModFix amt="26000"/>
            </a:blip>
            <a:srcRect b="15957" l="6448" r="48800" t="20895"/>
            <a:stretch/>
          </p:blipFill>
          <p:spPr>
            <a:xfrm rot="-3046970">
              <a:off x="6083904" y="-3619695"/>
              <a:ext cx="6883224" cy="93319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5" name="Google Shape;145;p17" title="Group 1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/>
          <p:cNvPicPr preferRelativeResize="0"/>
          <p:nvPr/>
        </p:nvPicPr>
        <p:blipFill rotWithShape="1">
          <a:blip r:embed="rId3">
            <a:alphaModFix amt="14000"/>
          </a:blip>
          <a:srcRect b="15957" l="6448" r="48800" t="20895"/>
          <a:stretch/>
        </p:blipFill>
        <p:spPr>
          <a:xfrm rot="10429865">
            <a:off x="-3441" y="1040491"/>
            <a:ext cx="3441612" cy="4665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69">
            <a:off x="3041952" y="-1809847"/>
            <a:ext cx="3441612" cy="466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87563" y="728985"/>
            <a:ext cx="6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Live Demo &amp; Test Results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 flipH="1" rot="10800000">
            <a:off x="5310045" y="3759250"/>
            <a:ext cx="869900" cy="869900"/>
          </a:xfrm>
          <a:custGeom>
            <a:rect b="b" l="l" r="r" t="t"/>
            <a:pathLst>
              <a:path extrusionOk="0" h="1739800" w="1739800">
                <a:moveTo>
                  <a:pt x="0" y="1739800"/>
                </a:moveTo>
                <a:lnTo>
                  <a:pt x="1739801" y="1739800"/>
                </a:lnTo>
                <a:lnTo>
                  <a:pt x="1739801" y="0"/>
                </a:lnTo>
                <a:lnTo>
                  <a:pt x="0" y="0"/>
                </a:lnTo>
                <a:lnTo>
                  <a:pt x="0" y="1739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 flipH="1">
            <a:off x="7414102" y="938238"/>
            <a:ext cx="958438" cy="958438"/>
          </a:xfrm>
          <a:custGeom>
            <a:rect b="b" l="l" r="r" t="t"/>
            <a:pathLst>
              <a:path extrusionOk="0" h="1916875" w="1916875">
                <a:moveTo>
                  <a:pt x="1916875" y="0"/>
                </a:moveTo>
                <a:lnTo>
                  <a:pt x="0" y="0"/>
                </a:lnTo>
                <a:lnTo>
                  <a:pt x="0" y="1916875"/>
                </a:lnTo>
                <a:lnTo>
                  <a:pt x="1916875" y="1916875"/>
                </a:lnTo>
                <a:lnTo>
                  <a:pt x="19168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293522" y="2108331"/>
            <a:ext cx="107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 IMAGE 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73656" y="1627920"/>
            <a:ext cx="3816900" cy="27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We tested our system across multiple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voice types and all 5 supported languages: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🎯 AI Voices (ElevenLabs, gTTS): 100%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👤 Human Voices (Native speakers): ~85%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📊 Overall Balanced Accuracy: ~92%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⚡ Average response time: &lt; 3 seconds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🎤 Minimum audio length: 0.5 seconds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📦 Batch processing: Up to 10 files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1588" y="127072"/>
            <a:ext cx="1409701" cy="792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8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160" name="Google Shape;160;p18"/>
            <p:cNvPicPr preferRelativeResize="0"/>
            <p:nvPr/>
          </p:nvPicPr>
          <p:blipFill rotWithShape="1">
            <a:blip r:embed="rId6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8"/>
            <p:cNvPicPr preferRelativeResize="0"/>
            <p:nvPr/>
          </p:nvPicPr>
          <p:blipFill rotWithShape="1">
            <a:blip r:embed="rId6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2" name="Google Shape;162;p18"/>
          <p:cNvCxnSpPr/>
          <p:nvPr/>
        </p:nvCxnSpPr>
        <p:spPr>
          <a:xfrm>
            <a:off x="687563" y="1393776"/>
            <a:ext cx="34953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8"/>
          <p:cNvSpPr txBox="1"/>
          <p:nvPr/>
        </p:nvSpPr>
        <p:spPr>
          <a:xfrm>
            <a:off x="4741376" y="3353109"/>
            <a:ext cx="481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310045" y="3326539"/>
            <a:ext cx="193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Add Pointer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988280" y="4038571"/>
            <a:ext cx="472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597191" y="4022744"/>
            <a:ext cx="193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Add Pointer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4741376" y="4038571"/>
            <a:ext cx="474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330122" y="4012618"/>
            <a:ext cx="193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Add Pointer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8" title="Group 1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2525" y="1393775"/>
            <a:ext cx="4477123" cy="35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-600" y="4475250"/>
            <a:ext cx="1989000" cy="261600"/>
          </a:xfrm>
          <a:prstGeom prst="rect">
            <a:avLst/>
          </a:prstGeom>
          <a:solidFill>
            <a:srgbClr val="3E3582"/>
          </a:solidFill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</a:t>
            </a:r>
            <a:r>
              <a:rPr b="1" lang="en" sz="12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9"/>
              </a:rPr>
              <a:t>Live Demo</a:t>
            </a:r>
            <a:endParaRPr b="1" i="0" sz="700" u="none" cap="none" strike="noStrike">
              <a:solidFill>
                <a:srgbClr val="000000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2292400" y="4475250"/>
            <a:ext cx="1989000" cy="231000"/>
          </a:xfrm>
          <a:prstGeom prst="rect">
            <a:avLst/>
          </a:prstGeom>
          <a:solidFill>
            <a:srgbClr val="38318E"/>
          </a:solidFill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           </a:t>
            </a:r>
            <a:r>
              <a:rPr b="1" lang="en" sz="12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10"/>
              </a:rPr>
              <a:t>Source Code</a:t>
            </a:r>
            <a:endParaRPr b="1" i="0" sz="7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 amt="14000"/>
          </a:blip>
          <a:srcRect b="15957" l="6448" r="48800" t="20895"/>
          <a:stretch/>
        </p:blipFill>
        <p:spPr>
          <a:xfrm rot="10429865">
            <a:off x="-3441" y="1040491"/>
            <a:ext cx="3441612" cy="4665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69">
            <a:off x="3041952" y="-1809847"/>
            <a:ext cx="3441612" cy="466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8004878" y="256438"/>
            <a:ext cx="914559" cy="786576"/>
          </a:xfrm>
          <a:custGeom>
            <a:rect b="b" l="l" r="r" t="t"/>
            <a:pathLst>
              <a:path extrusionOk="0" h="1573152" w="1829117">
                <a:moveTo>
                  <a:pt x="0" y="0"/>
                </a:moveTo>
                <a:lnTo>
                  <a:pt x="1829118" y="0"/>
                </a:lnTo>
                <a:lnTo>
                  <a:pt x="1829118" y="1573152"/>
                </a:lnTo>
                <a:lnTo>
                  <a:pt x="0" y="1573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87563" y="728985"/>
            <a:ext cx="62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Why Ensemble Beats Single Models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19"/>
          <p:cNvGraphicFramePr/>
          <p:nvPr/>
        </p:nvGraphicFramePr>
        <p:xfrm>
          <a:off x="687563" y="280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{E8F99435-2C8A-4B26-ADBC-C9DD090BD947}</a:tableStyleId>
              </a:tblPr>
              <a:tblGrid>
                <a:gridCol w="1766775"/>
                <a:gridCol w="1932100"/>
                <a:gridCol w="1932100"/>
                <a:gridCol w="1932100"/>
              </a:tblGrid>
              <a:tr h="44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Model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47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AI Accuracy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47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Human Accuracy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47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Status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47D3"/>
                    </a:solidFill>
                  </a:tcPr>
                </a:tc>
              </a:tr>
              <a:tr h="3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Wav2Vec2 Transformer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97</a:t>
                      </a:r>
                      <a:r>
                        <a:rPr b="1" lang="en" sz="1000" u="none" cap="none" strike="noStrike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78%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Misses subtle cases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</a:tr>
              <a:tr h="3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CNN on MFCC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91</a:t>
                      </a:r>
                      <a:r>
                        <a:rPr b="1" lang="en" sz="1000" u="none" cap="none" strike="noStrike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80%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Struggles with noise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</a:tr>
              <a:tr h="3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Heuristic Analysis</a:t>
                      </a:r>
                      <a:endParaRPr b="1" sz="1000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85%</a:t>
                      </a:r>
                      <a:endParaRPr b="1" sz="1000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88%</a:t>
                      </a:r>
                      <a:endParaRPr b="1" sz="1000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Too many false positives</a:t>
                      </a:r>
                      <a:endParaRPr b="1" sz="1000"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D8F1"/>
                    </a:solidFill>
                  </a:tcPr>
                </a:tc>
              </a:tr>
              <a:tr h="3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Our Ensemble (All 3)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100</a:t>
                      </a:r>
                      <a:r>
                        <a:rPr b="1" lang="en" sz="1000" u="none" cap="none" strike="noStrike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~87%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Best of all</a:t>
                      </a:r>
                      <a:endParaRPr b="1" sz="600" u="none" cap="none" strike="noStrike"/>
                    </a:p>
                  </a:txBody>
                  <a:tcPr marT="95250" marB="95250" marR="95250" marL="95250" anchor="ctr">
                    <a:lnL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38318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9"/>
          <p:cNvSpPr txBox="1"/>
          <p:nvPr/>
        </p:nvSpPr>
        <p:spPr>
          <a:xfrm>
            <a:off x="687575" y="1653050"/>
            <a:ext cx="84024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Our system was tested across all 5 supported Indian languages with both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AI-generated voices (ElevenLabs, gTTS) and human voice recordings. No single AI model is perfect. Our smart consensus voting combines three different approaches if 2 out of 3 models agree, the result is reliable.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This gives us deep learning accuracy with heuristic explainability.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84" name="Google Shape;184;p19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185" name="Google Shape;185;p19"/>
            <p:cNvPicPr preferRelativeResize="0"/>
            <p:nvPr/>
          </p:nvPicPr>
          <p:blipFill rotWithShape="1">
            <a:blip r:embed="rId5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9"/>
            <p:cNvPicPr preferRelativeResize="0"/>
            <p:nvPr/>
          </p:nvPicPr>
          <p:blipFill rotWithShape="1">
            <a:blip r:embed="rId5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7" name="Google Shape;187;p19"/>
          <p:cNvCxnSpPr/>
          <p:nvPr/>
        </p:nvCxnSpPr>
        <p:spPr>
          <a:xfrm>
            <a:off x="687563" y="1393776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8" name="Google Shape;188;p19" title="Group 1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69">
            <a:off x="3041952" y="-1809847"/>
            <a:ext cx="3441612" cy="466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687579" y="728975"/>
            <a:ext cx="83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Trade-Off: Speed Over the Last 5% Accuracy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87575" y="1333513"/>
            <a:ext cx="8097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Trade-Off: We chose speed (&lt; 3s) over the last 5% accuracy.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A fast response saves people NOW 97% in 2 seconds beats 99% in 30 seconds.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Known Limitations: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Audio shorter than 0.5 seconds  not enough data to analyze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E3582"/>
                </a:solidFill>
                <a:latin typeface="Noto Sans"/>
                <a:ea typeface="Noto Sans"/>
                <a:cs typeface="Noto Sans"/>
                <a:sym typeface="Noto Sans"/>
              </a:rPr>
              <a:t>- Brand-new AI voice models we haven't trained on yet</a:t>
            </a:r>
            <a:endParaRPr sz="1200">
              <a:solidFill>
                <a:srgbClr val="3E358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697088" y="2822046"/>
            <a:ext cx="1274227" cy="1274227"/>
            <a:chOff x="0" y="0"/>
            <a:chExt cx="812800" cy="812800"/>
          </a:xfrm>
        </p:grpSpPr>
        <p:sp>
          <p:nvSpPr>
            <p:cNvPr id="198" name="Google Shape;19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318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2248385" y="2822046"/>
            <a:ext cx="1274227" cy="1274227"/>
            <a:chOff x="0" y="0"/>
            <a:chExt cx="812800" cy="8128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318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743503" y="2674249"/>
            <a:ext cx="494995" cy="494995"/>
            <a:chOff x="0" y="0"/>
            <a:chExt cx="812800" cy="812800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47D3"/>
            </a:solidFill>
            <a:ln cap="sq" cmpd="sng" w="476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168000" y="174827"/>
              <a:ext cx="476700" cy="494400"/>
            </a:xfrm>
            <a:prstGeom prst="rect">
              <a:avLst/>
            </a:prstGeom>
            <a:solidFill>
              <a:srgbClr val="E047D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3799683" y="2822046"/>
            <a:ext cx="1274227" cy="1274227"/>
            <a:chOff x="0" y="0"/>
            <a:chExt cx="812800" cy="812800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318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5350981" y="2822046"/>
            <a:ext cx="1274227" cy="1274227"/>
            <a:chOff x="0" y="0"/>
            <a:chExt cx="812800" cy="812800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318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6902279" y="2822046"/>
            <a:ext cx="1274227" cy="1274227"/>
            <a:chOff x="0" y="0"/>
            <a:chExt cx="812800" cy="812800"/>
          </a:xfrm>
        </p:grpSpPr>
        <p:sp>
          <p:nvSpPr>
            <p:cNvPr id="213" name="Google Shape;213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318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20"/>
          <p:cNvSpPr txBox="1"/>
          <p:nvPr/>
        </p:nvSpPr>
        <p:spPr>
          <a:xfrm>
            <a:off x="701850" y="3323770"/>
            <a:ext cx="12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Speed &gt; Perfect Accuracy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253148" y="3323770"/>
            <a:ext cx="12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Ensemble &gt; Single Model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804446" y="3323770"/>
            <a:ext cx="127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Recall &gt; Precision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355744" y="3323770"/>
            <a:ext cx="12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HF Spaces (free) vs paid GPU servers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743492" y="4199078"/>
            <a:ext cx="1274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latin typeface="Noto Sans"/>
                <a:ea typeface="Noto Sans"/>
                <a:cs typeface="Noto Sans"/>
                <a:sym typeface="Noto Sans"/>
              </a:rPr>
              <a:t>&lt; 3s response vs 30s for 99% accuracy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907041" y="3323770"/>
            <a:ext cx="127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 Languages &gt; 22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1588" y="127072"/>
            <a:ext cx="1409701" cy="792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0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223" name="Google Shape;223;p20"/>
            <p:cNvPicPr preferRelativeResize="0"/>
            <p:nvPr/>
          </p:nvPicPr>
          <p:blipFill rotWithShape="1">
            <a:blip r:embed="rId5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0"/>
            <p:cNvPicPr preferRelativeResize="0"/>
            <p:nvPr/>
          </p:nvPicPr>
          <p:blipFill rotWithShape="1">
            <a:blip r:embed="rId5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5" name="Google Shape;225;p20"/>
          <p:cNvCxnSpPr/>
          <p:nvPr/>
        </p:nvCxnSpPr>
        <p:spPr>
          <a:xfrm>
            <a:off x="687563" y="1306228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6" name="Google Shape;226;p20"/>
          <p:cNvGrpSpPr/>
          <p:nvPr/>
        </p:nvGrpSpPr>
        <p:grpSpPr>
          <a:xfrm>
            <a:off x="2242335" y="2739902"/>
            <a:ext cx="494995" cy="494995"/>
            <a:chOff x="0" y="0"/>
            <a:chExt cx="812800" cy="812800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47D3"/>
            </a:solidFill>
            <a:ln cap="sq" cmpd="sng" w="476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168000" y="174827"/>
              <a:ext cx="476700" cy="494400"/>
            </a:xfrm>
            <a:prstGeom prst="rect">
              <a:avLst/>
            </a:prstGeom>
            <a:solidFill>
              <a:srgbClr val="E047D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3741181" y="2739902"/>
            <a:ext cx="494995" cy="494995"/>
            <a:chOff x="0" y="0"/>
            <a:chExt cx="812800" cy="812800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47D3"/>
            </a:solidFill>
            <a:ln cap="sq" cmpd="sng" w="476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168000" y="174827"/>
              <a:ext cx="476700" cy="494400"/>
            </a:xfrm>
            <a:prstGeom prst="rect">
              <a:avLst/>
            </a:prstGeom>
            <a:solidFill>
              <a:srgbClr val="E047D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5301128" y="2739901"/>
            <a:ext cx="494995" cy="494995"/>
            <a:chOff x="0" y="0"/>
            <a:chExt cx="812800" cy="812800"/>
          </a:xfrm>
        </p:grpSpPr>
        <p:sp>
          <p:nvSpPr>
            <p:cNvPr id="233" name="Google Shape;233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47D3"/>
            </a:solidFill>
            <a:ln cap="sq" cmpd="sng" w="476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168000" y="174827"/>
              <a:ext cx="476700" cy="494400"/>
            </a:xfrm>
            <a:prstGeom prst="rect">
              <a:avLst/>
            </a:prstGeom>
            <a:solidFill>
              <a:srgbClr val="E047D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6861074" y="2739900"/>
            <a:ext cx="494995" cy="494995"/>
            <a:chOff x="0" y="0"/>
            <a:chExt cx="812800" cy="812800"/>
          </a:xfrm>
        </p:grpSpPr>
        <p:sp>
          <p:nvSpPr>
            <p:cNvPr id="236" name="Google Shape;23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47D3"/>
            </a:solidFill>
            <a:ln cap="sq" cmpd="sng" w="476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168000" y="174827"/>
              <a:ext cx="476700" cy="494400"/>
            </a:xfrm>
            <a:prstGeom prst="rect">
              <a:avLst/>
            </a:prstGeom>
            <a:solidFill>
              <a:srgbClr val="E047D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8" name="Google Shape;238;p20" title="Group 1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2306042" y="4199078"/>
            <a:ext cx="1274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latin typeface="Noto Sans"/>
                <a:ea typeface="Noto Sans"/>
                <a:cs typeface="Noto Sans"/>
                <a:sym typeface="Noto Sans"/>
              </a:rPr>
              <a:t>3 lighter models vs 1 heavy transformer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0" y="0"/>
            <a:ext cx="30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3 lighter models vs 1 heavy transformer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3868601" y="4199075"/>
            <a:ext cx="1409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latin typeface="Noto Sans"/>
                <a:ea typeface="Noto Sans"/>
                <a:cs typeface="Noto Sans"/>
                <a:sym typeface="Noto Sans"/>
              </a:rPr>
              <a:t>Better to flag a real voice than miss a fake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350879" y="4199078"/>
            <a:ext cx="1274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latin typeface="Noto Sans"/>
                <a:ea typeface="Noto Sans"/>
                <a:cs typeface="Noto Sans"/>
                <a:sym typeface="Noto Sans"/>
              </a:rPr>
              <a:t>HF Spaces (free) vs paid GPU servers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6740075" y="4199075"/>
            <a:ext cx="1700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latin typeface="Noto Sans"/>
                <a:ea typeface="Noto Sans"/>
                <a:cs typeface="Noto Sans"/>
                <a:sym typeface="Noto Sans"/>
              </a:rPr>
              <a:t>Depth in 5 Indian languages vs shallow in all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 amt="14000"/>
          </a:blip>
          <a:srcRect b="15957" l="6448" r="48800" t="20895"/>
          <a:stretch/>
        </p:blipFill>
        <p:spPr>
          <a:xfrm rot="10429866">
            <a:off x="-32378" y="503474"/>
            <a:ext cx="3823680" cy="5183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5400000">
            <a:off x="5415079" y="1217503"/>
            <a:ext cx="3180485" cy="431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 amt="26000"/>
          </a:blip>
          <a:srcRect b="15957" l="6448" r="48800" t="20895"/>
          <a:stretch/>
        </p:blipFill>
        <p:spPr>
          <a:xfrm rot="-3046970">
            <a:off x="2283652" y="-2479064"/>
            <a:ext cx="3951110" cy="535670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547273" y="2740703"/>
            <a:ext cx="755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Submission by: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43849" y="3348990"/>
            <a:ext cx="75534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Gaurav Sulsule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Shreyansh Madhav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3E3582"/>
                </a:solidFill>
                <a:latin typeface="DM Sans"/>
                <a:ea typeface="DM Sans"/>
                <a:cs typeface="DM Sans"/>
                <a:sym typeface="DM Sans"/>
              </a:rPr>
              <a:t>Sanyum Jain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358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9599" y="199288"/>
            <a:ext cx="3435089" cy="1930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1"/>
          <p:cNvGrpSpPr/>
          <p:nvPr/>
        </p:nvGrpSpPr>
        <p:grpSpPr>
          <a:xfrm>
            <a:off x="-608" y="4963708"/>
            <a:ext cx="9150250" cy="197571"/>
            <a:chOff x="-9601202" y="5296585"/>
            <a:chExt cx="18481619" cy="395143"/>
          </a:xfrm>
        </p:grpSpPr>
        <p:pic>
          <p:nvPicPr>
            <p:cNvPr id="255" name="Google Shape;255;p21"/>
            <p:cNvPicPr preferRelativeResize="0"/>
            <p:nvPr/>
          </p:nvPicPr>
          <p:blipFill rotWithShape="1">
            <a:blip r:embed="rId5">
              <a:alphaModFix/>
            </a:blip>
            <a:srcRect b="0" l="1857" r="95783" t="0"/>
            <a:stretch/>
          </p:blipFill>
          <p:spPr>
            <a:xfrm rot="5400000">
              <a:off x="-5086036" y="781418"/>
              <a:ext cx="395141" cy="942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1"/>
            <p:cNvPicPr preferRelativeResize="0"/>
            <p:nvPr/>
          </p:nvPicPr>
          <p:blipFill rotWithShape="1">
            <a:blip r:embed="rId5">
              <a:alphaModFix/>
            </a:blip>
            <a:srcRect b="0" l="92964" r="4675" t="0"/>
            <a:stretch/>
          </p:blipFill>
          <p:spPr>
            <a:xfrm rot="5400000">
              <a:off x="4066910" y="878219"/>
              <a:ext cx="395141" cy="9231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7" name="Google Shape;257;p21"/>
          <p:cNvCxnSpPr/>
          <p:nvPr/>
        </p:nvCxnSpPr>
        <p:spPr>
          <a:xfrm>
            <a:off x="531920" y="3242030"/>
            <a:ext cx="7621800" cy="0"/>
          </a:xfrm>
          <a:prstGeom prst="straightConnector1">
            <a:avLst/>
          </a:prstGeom>
          <a:noFill/>
          <a:ln cap="flat" cmpd="sng" w="9525">
            <a:solidFill>
              <a:srgbClr val="E047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8" name="Google Shape;258;p21" title="Group 1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826" y="137500"/>
            <a:ext cx="1581300" cy="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